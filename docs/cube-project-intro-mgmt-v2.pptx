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84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868680"/>
            <a:ext cx="10835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C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868680"/>
            <a:ext cx="2926080" cy="4206240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325880"/>
            <a:ext cx="6309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icrosoft YaHei"/>
              </a:rPr>
              <a:t>CUBE 工作流项目介绍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993392"/>
            <a:ext cx="6309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5A606E"/>
                </a:solidFill>
                <a:latin typeface="Microsoft YaHei"/>
              </a:rPr>
              <a:t>把 AI 开发从“生成内容”变成“按证据推进的工程交付”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926080"/>
            <a:ext cx="1874519" cy="1188720"/>
          </a:xfrm>
          <a:prstGeom prst="roundRect">
            <a:avLst/>
          </a:prstGeom>
          <a:solidFill>
            <a:srgbClr val="F7F8FA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Contract</a:t>
            </a:r>
          </a:p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阶段输出即契约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2926080"/>
            <a:ext cx="1874519" cy="1188720"/>
          </a:xfrm>
          <a:prstGeom prst="roundRect">
            <a:avLst/>
          </a:prstGeom>
          <a:solidFill>
            <a:srgbClr val="F7F8FA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TDD</a:t>
            </a:r>
          </a:p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测试先行驱动实现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926080"/>
            <a:ext cx="1874519" cy="1188720"/>
          </a:xfrm>
          <a:prstGeom prst="roundRect">
            <a:avLst/>
          </a:prstGeom>
          <a:solidFill>
            <a:srgbClr val="F7F8FA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Gate</a:t>
            </a:r>
          </a:p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机械化校验推进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440680"/>
            <a:ext cx="1828800" cy="411480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01 PRD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1828800" cy="411480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02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5440680"/>
            <a:ext cx="1828800" cy="411480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03 Test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5440680"/>
            <a:ext cx="1828800" cy="411480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04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5440680"/>
            <a:ext cx="1828800" cy="411480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05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汇报结构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05840"/>
            <a:ext cx="48920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01  项目目标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为什么需要 CUBE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05840"/>
            <a:ext cx="48920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02  核心机制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契约、门禁、回退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48920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03  需求阶段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把需求说清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40280"/>
            <a:ext cx="48920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04  设计阶段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把方案定清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74720"/>
            <a:ext cx="48920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05  测试契约阶段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先固化测试契约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474720"/>
            <a:ext cx="48920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06  开发实现阶段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按任务逐步实现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09160"/>
            <a:ext cx="4892040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07  测试验收阶段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形成验收证据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项目定位：把 AI 开发纳入可控交付流程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1627632"/>
            <a:ext cx="868680" cy="438912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67712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用户需求 / 现有项目 / 分支迭代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2588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00600" y="1627632"/>
            <a:ext cx="868680" cy="438912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267712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Skill 命令 + 阶段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32588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19" y="1627632"/>
            <a:ext cx="868680" cy="438912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267712"/>
            <a:ext cx="2468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Engine Gate + 状态推进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10241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222222"/>
                </a:solidFill>
                <a:latin typeface="Microsoft YaHei"/>
              </a:rPr>
              <a:t>将一次业务迭代拆成 PRD、Design、Test Cases、Development、Testing 五个阶段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icrosoft YaHei"/>
              </a:rPr>
              <a:t>AI 负责生成和执行，引擎脚本负责校验，避免“主观完成”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icrosoft YaHei"/>
              </a:rPr>
              <a:t>会优先复用用户环境里已安装的外部插件能力，例如 brainstorm、code review 等</a:t>
            </a:r>
          </a:p>
          <a:p>
            <a:pPr algn="ctr"/>
            <a:r>
              <a:rPr sz="1600" b="0">
                <a:solidFill>
                  <a:srgbClr val="222222"/>
                </a:solidFill>
                <a:latin typeface="Microsoft YaHei"/>
              </a:rPr>
              <a:t>如果外部插件都不可用，则回退本地通用实现：流程强依赖，外部能力弱依赖。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核心机制：五阶段门禁 + 可回退契约链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828800" cy="1234440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01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prd.md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需求契约</a:t>
            </a:r>
          </a:p>
        </p:txBody>
      </p:sp>
      <p:sp>
        <p:nvSpPr>
          <p:cNvPr id="6" name="Chevron 5"/>
          <p:cNvSpPr/>
          <p:nvPr/>
        </p:nvSpPr>
        <p:spPr>
          <a:xfrm>
            <a:off x="2148840" y="2267712"/>
            <a:ext cx="365760" cy="320040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1828800" cy="1234440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02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design.md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技术契约</a:t>
            </a:r>
          </a:p>
        </p:txBody>
      </p:sp>
      <p:sp>
        <p:nvSpPr>
          <p:cNvPr id="8" name="Chevron 7"/>
          <p:cNvSpPr/>
          <p:nvPr/>
        </p:nvSpPr>
        <p:spPr>
          <a:xfrm>
            <a:off x="4480560" y="2267712"/>
            <a:ext cx="365760" cy="320040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66359" y="1828800"/>
            <a:ext cx="1828800" cy="1234440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03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test-map.yaml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测试契约</a:t>
            </a:r>
          </a:p>
        </p:txBody>
      </p:sp>
      <p:sp>
        <p:nvSpPr>
          <p:cNvPr id="10" name="Chevron 9"/>
          <p:cNvSpPr/>
          <p:nvPr/>
        </p:nvSpPr>
        <p:spPr>
          <a:xfrm>
            <a:off x="6812279" y="2267712"/>
            <a:ext cx="365760" cy="320040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79" y="1828800"/>
            <a:ext cx="1828800" cy="1234440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04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STATUS.yaml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实现进度</a:t>
            </a:r>
          </a:p>
        </p:txBody>
      </p:sp>
      <p:sp>
        <p:nvSpPr>
          <p:cNvPr id="12" name="Chevron 11"/>
          <p:cNvSpPr/>
          <p:nvPr/>
        </p:nvSpPr>
        <p:spPr>
          <a:xfrm>
            <a:off x="9144000" y="2267712"/>
            <a:ext cx="365760" cy="320040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9800" y="1828800"/>
            <a:ext cx="1828800" cy="1234440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05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test-report.md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验收证据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10515600" cy="457200"/>
          </a:xfrm>
          <a:prstGeom prst="roundRect">
            <a:avLst/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>
                <a:solidFill>
                  <a:srgbClr val="222222"/>
                </a:solidFill>
                <a:latin typeface="Microsoft YaHei"/>
              </a:rPr>
              <a:t>规则：后一阶段只能消费前一阶段已通过校验的产物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4663440"/>
            <a:ext cx="9326880" cy="347472"/>
          </a:xfrm>
          <a:prstGeom prst="roundRect">
            <a:avLst/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5A606E"/>
                </a:solidFill>
                <a:latin typeface="Microsoft YaHei"/>
              </a:rPr>
              <a:t>门禁由 deliverables 定义，engine 脚本负责机械化校验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5193792"/>
            <a:ext cx="9326880" cy="347472"/>
          </a:xfrm>
          <a:prstGeom prst="roundRect">
            <a:avLst/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5A606E"/>
                </a:solidFill>
                <a:latin typeface="Microsoft YaHei"/>
              </a:rPr>
              <a:t>一旦发现前序契约缺陷，就回退到对应阶段修正，不带病推进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五阶段详解：01 PRD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A7C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PRD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87451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把业务目标、范围边界和验收标准说清。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187451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0F8FF"/>
                </a:solidFill>
                <a:latin typeface="Microsoft YaHei"/>
              </a:rPr>
              <a:t>通过门禁后进入下一阶段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需求</a:t>
            </a:r>
          </a:p>
        </p:txBody>
      </p:sp>
      <p:sp>
        <p:nvSpPr>
          <p:cNvPr id="12" name="Chevron 11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访谈</a:t>
            </a:r>
          </a:p>
        </p:txBody>
      </p:sp>
      <p:sp>
        <p:nvSpPr>
          <p:cNvPr id="14" name="Chevron 13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边界</a:t>
            </a:r>
          </a:p>
        </p:txBody>
      </p:sp>
      <p:sp>
        <p:nvSpPr>
          <p:cNvPr id="16" name="Chevron 15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42032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从输入理解到可检查输出，每一步都留下明确产物。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0" name="Folded Corner 19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A7CFF"/>
                </a:solidFill>
                <a:latin typeface="Microsoft YaHei"/>
              </a:rPr>
              <a:t>prd.md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5993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明确功能范围、优先级、验收标准和不做事项。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96012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产品经理 / 需求方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224028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阶段价值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把业务目标、边界和验收标准先说清，避免开发阶段反复补需求。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52044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管理可见性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可直接检查需求范围、优先级和验收标准是否完整。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01 PRD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02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03 Test Cases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04 Development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五阶段详解：02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B09B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87451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把需求转成最小可落地的技术方案。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187451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0F8FF"/>
                </a:solidFill>
                <a:latin typeface="Microsoft YaHei"/>
              </a:rPr>
              <a:t>通过门禁后进入下一阶段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PRD</a:t>
            </a:r>
          </a:p>
        </p:txBody>
      </p:sp>
      <p:sp>
        <p:nvSpPr>
          <p:cNvPr id="12" name="Chevron 11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影响</a:t>
            </a:r>
          </a:p>
        </p:txBody>
      </p:sp>
      <p:sp>
        <p:nvSpPr>
          <p:cNvPr id="14" name="Chevron 13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接口</a:t>
            </a:r>
          </a:p>
        </p:txBody>
      </p:sp>
      <p:sp>
        <p:nvSpPr>
          <p:cNvPr id="16" name="Chevron 15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42032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从输入理解到可检查输出，每一步都留下明确产物。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0" name="Folded Corner 19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B09B"/>
                </a:solidFill>
                <a:latin typeface="Microsoft YaHei"/>
              </a:rPr>
              <a:t>design.md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5993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沉淀影响分析、接口方案、任务拆解和关键设计决策。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96012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架构师 / 研发负责人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224028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阶段价值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把需求转成可执行方案，提前暴露接口、数据和影响面的风险。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52044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管理可见性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可检查技术方案、任务拆解和变更范围是否闭环。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01 PRD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02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03 Test Cases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04 Development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五阶段详解：03 Test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5A623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87451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先写失败测试，把实现目标固化成测试契约。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187451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0F8FF"/>
                </a:solidFill>
                <a:latin typeface="Microsoft YaHei"/>
              </a:rPr>
              <a:t>通过门禁后进入下一阶段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设计</a:t>
            </a:r>
          </a:p>
        </p:txBody>
      </p:sp>
      <p:sp>
        <p:nvSpPr>
          <p:cNvPr id="12" name="Chevron 11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用例</a:t>
            </a:r>
          </a:p>
        </p:txBody>
      </p:sp>
      <p:sp>
        <p:nvSpPr>
          <p:cNvPr id="14" name="Chevron 13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失败</a:t>
            </a:r>
          </a:p>
        </p:txBody>
      </p:sp>
      <p:sp>
        <p:nvSpPr>
          <p:cNvPr id="16" name="Chevron 15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锁定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42032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从输入理解到可检查输出，每一步都留下明确产物。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0" name="Folded Corner 19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Microsoft YaHei"/>
              </a:rPr>
              <a:t>test-map.yaml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5993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固定功能测试、组件链路测试和类型化测试映射。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96012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测试负责人 / TDD 执行者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224028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阶段价值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先把“什么算完成”固化为测试契约，减少实现阶段目标漂移。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52044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管理可见性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可检查测试覆盖范围、失败用例和任务映射是否齐全。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01 PRD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02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03 Test Cases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04 Development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五阶段详解：04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6B6B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87451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按任务最小实现，逐个让测试变绿。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187451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0F8FF"/>
                </a:solidFill>
                <a:latin typeface="Microsoft YaHei"/>
              </a:rPr>
              <a:t>通过门禁后进入下一阶段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任务</a:t>
            </a:r>
          </a:p>
        </p:txBody>
      </p:sp>
      <p:sp>
        <p:nvSpPr>
          <p:cNvPr id="12" name="Chevron 11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读测</a:t>
            </a:r>
          </a:p>
        </p:txBody>
      </p:sp>
      <p:sp>
        <p:nvSpPr>
          <p:cNvPr id="14" name="Chevron 13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实现</a:t>
            </a:r>
          </a:p>
        </p:txBody>
      </p:sp>
      <p:sp>
        <p:nvSpPr>
          <p:cNvPr id="16" name="Chevron 15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重构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42032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从输入理解到可检查输出，每一步都留下明确产物。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0" name="Folded Corner 19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Microsoft YaHei"/>
              </a:rPr>
              <a:t>STATUS.yaml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5993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记录任务状态、测试结果、代码变更和开发轨迹。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96012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研发 / AI 执行者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224028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阶段价值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按任务逐个实现并验证，让进度建立在真实通过结果上。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52044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管理可见性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可检查当前任务状态、测试结果和实际代码变更范围。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01 PRD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02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03 Test Cases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04 Development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五阶段详解：05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ECC71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874519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跑完整验证，沉淀可交付的验收证据。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187451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0F8FF"/>
                </a:solidFill>
                <a:latin typeface="Microsoft YaHei"/>
              </a:rPr>
              <a:t>通过门禁后进入下一阶段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全测</a:t>
            </a:r>
          </a:p>
        </p:txBody>
      </p:sp>
      <p:sp>
        <p:nvSpPr>
          <p:cNvPr id="12" name="Chevron 11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集成</a:t>
            </a:r>
          </a:p>
        </p:txBody>
      </p:sp>
      <p:sp>
        <p:nvSpPr>
          <p:cNvPr id="14" name="Chevron 13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验收</a:t>
            </a:r>
          </a:p>
        </p:txBody>
      </p:sp>
      <p:sp>
        <p:nvSpPr>
          <p:cNvPr id="16" name="Chevron 15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42032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从输入理解到可检查输出，每一步都留下明确产物。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0" name="Folded Corner 19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  <a:latin typeface="Microsoft YaHei"/>
              </a:rPr>
              <a:t>test-report.md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5993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汇总端到端集成链路测试、验收结论、覆盖缺口和剩余风险。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96012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QA / 交付负责人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224028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阶段价值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把局部通过提升为全量验收证据，为交付和上线提供依据。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520440"/>
            <a:ext cx="3246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管理可见性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可检查最终测试报告、验收结论和剩余风险项。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01 PRD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02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03 Test Cases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04 Development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质量保障：风险不是最后验收才发现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Gate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阶段门禁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74519" cy="182880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71800" y="164592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Lock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测试锁定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645920"/>
            <a:ext cx="1874519" cy="182880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12080" y="164592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Readonly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前序只读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645920"/>
            <a:ext cx="1874519" cy="182880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360" y="164592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Status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状态追踪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45920"/>
            <a:ext cx="1874519" cy="182880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92640" y="164592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Review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交叉审查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645920"/>
            <a:ext cx="1874519" cy="182880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4343400"/>
            <a:ext cx="10195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>
                <a:solidFill>
                  <a:srgbClr val="222222"/>
                </a:solidFill>
                <a:latin typeface="Microsoft YaHei"/>
              </a:rPr>
              <a:t>质量不是最后验收才发生，而是从需求、设计、测试、实现到验收全链路持续发生。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Microsoft YaHei"/>
              </a:rPr>
              <a:t>管理层看到的不只是“代码完成”，而是每一阶段是否真实通过。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推进路线：从流程插件到工程运营系统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自动化增强</a:t>
            </a:r>
          </a:p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阶段报告、风险提示、Reviewer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2331720" cy="164592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93591" y="1508760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工程集成</a:t>
            </a:r>
          </a:p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GitLab MR / Pipeline / Commit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591" y="1508760"/>
            <a:ext cx="2331720" cy="164592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64224" y="1508760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流程迭代</a:t>
            </a:r>
          </a:p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门禁规则、回退路径、执行策略优化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508760"/>
            <a:ext cx="2331720" cy="164592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34856" y="1508760"/>
            <a:ext cx="2331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指标闭环</a:t>
            </a:r>
          </a:p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通过率、返工率、缺陷逃逸率、Token 成本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1508760"/>
            <a:ext cx="2331720" cy="164592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4572000"/>
            <a:ext cx="99669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>
                <a:solidFill>
                  <a:srgbClr val="222222"/>
                </a:solidFill>
                <a:latin typeface="Microsoft YaHei"/>
              </a:rPr>
              <a:t>目标不是把流程做重，而是把“质量、进度、风险、成本”变成可以持续运营的工程指标。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总结：让 AI 开发变成可控交付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五阶段门禁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把需求到验收拆成可检查链路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前序只读 + 可回退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返工有路径，修改有边界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产物可追踪、质量可度量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管理层能看到真实交付状态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800600"/>
            <a:ext cx="9966960" cy="685800"/>
          </a:xfrm>
          <a:prstGeom prst="roundRect">
            <a:avLst/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22222"/>
                </a:solidFill>
                <a:latin typeface="Microsoft YaHei"/>
              </a:rPr>
              <a:t>CUBE 让 AI 开发从“生成内容”变成“按证据推进的工程交付”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附录：01 PRD 核心产出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10972800" cy="164592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icrosoft YaHei"/>
              </a:rPr>
              <a:t>核心产出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078992"/>
            <a:ext cx="3840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A7CFF"/>
                </a:solidFill>
                <a:latin typeface="Microsoft YaHei"/>
              </a:rPr>
              <a:t>prd.md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78992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06E"/>
                </a:solidFill>
                <a:latin typeface="Microsoft YaHei"/>
              </a:rPr>
              <a:t>定义需求契约，决定这次迭代要做什么、怎么验收。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6400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874519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产出明细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716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功能概述：本次迭代覆盖哪些功能点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2724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Functional Requirements：按优先级列出需求条目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76732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验收标准：每条需求对应可验证条件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0740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Out of Scope：明确本次不做的事项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可见信息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42032"/>
            <a:ext cx="374903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管理层可看到范围是否清晰、优先级是否聚焦、验收口径是否统一。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88620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适合谁看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315968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管理层看阶段质量与风险</a:t>
            </a:r>
          </a:p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研发看输入输出是否齐全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附录：02 Design 核心产出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10972800" cy="164592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icrosoft YaHei"/>
              </a:rPr>
              <a:t>核心产出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078992"/>
            <a:ext cx="3840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B09B"/>
                </a:solidFill>
                <a:latin typeface="Microsoft YaHei"/>
              </a:rPr>
              <a:t>design.md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78992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06E"/>
                </a:solidFill>
                <a:latin typeface="Microsoft YaHei"/>
              </a:rPr>
              <a:t>定义技术契约，把需求转成开发和测试都能消费的方案。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6400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874519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产出明细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716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Impact Analysis：受影响模块、接口和数据兼容性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2724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Flow / API / Module Design：流程、接口和模块职责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76732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Output Contract：输入、输出、正确性规则和类型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0740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Development Tasks：原子任务拆解和执行顺序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可见信息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42032"/>
            <a:ext cx="374903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研发可看到改什么、怎么改；管理层可看到影响面和任务闭环。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88620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适合谁看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315968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管理层看阶段质量与风险</a:t>
            </a:r>
          </a:p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研发看输入输出是否齐全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附录：03 Test Cases 核心产出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10972800" cy="164592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icrosoft YaHei"/>
              </a:rPr>
              <a:t>核心产出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078992"/>
            <a:ext cx="3840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Microsoft YaHei"/>
              </a:rPr>
              <a:t>test-map.yaml + 失败测试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78992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06E"/>
                </a:solidFill>
                <a:latin typeface="Microsoft YaHei"/>
              </a:rPr>
              <a:t>定义测试契约，先把“什么算完成”固定下来。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6400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874519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产出明细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716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功能测试用例：Happy path、边界值、错误码校验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2724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组件链路测试：跨组件 feature 的集成链路验证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76732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类型化测试映射：web-e2e / sql-query / cli / integration 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0740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失败测试基线：测试可编译但执行失败，等待实现去满足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可见信息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42032"/>
            <a:ext cx="374903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可检查测试覆盖是否完整、链路是否闭环、实现目标是否已被前置定义。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88620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适合谁看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315968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管理层看阶段质量与风险</a:t>
            </a:r>
          </a:p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研发看输入输出是否齐全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附录：04 Development 核心产出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768095"/>
            <a:ext cx="10972800" cy="164592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icrosoft YaHei"/>
              </a:rPr>
              <a:t>核心产出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078992"/>
            <a:ext cx="3840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6B6B"/>
                </a:solidFill>
                <a:latin typeface="Microsoft YaHei"/>
              </a:rPr>
              <a:t>STATUS.yaml + dev-log.md + test-output.log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78992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06E"/>
                </a:solidFill>
                <a:latin typeface="Microsoft YaHei"/>
              </a:rPr>
              <a:t>记录真实实现推进，而不是主观汇报进度。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6400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874519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产出明细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716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STATUS.yaml：任务 phase、通过数、完成时间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2724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dev-log.md：每个任务的文件变更和阶段结果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76732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test-output.log：单任务或全量测试执行证据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0740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实现代码提交：与任务和测试结果一一对应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可见信息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42032"/>
            <a:ext cx="374903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可检查当前做到哪一步、哪些任务已变绿、每次修改影响了哪些文件。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88620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适合谁看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315968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管理层看阶段质量与风险</a:t>
            </a:r>
          </a:p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研发看输入输出是否齐全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222222"/>
                </a:solidFill>
                <a:latin typeface="Microsoft YaHei"/>
              </a:rPr>
              <a:t>附录：05 Testing </a:t>
            </a:r>
            <a:r>
              <a:rPr sz="2400" b="1" dirty="0" err="1">
                <a:solidFill>
                  <a:srgbClr val="222222"/>
                </a:solidFill>
                <a:latin typeface="Microsoft YaHei"/>
              </a:rPr>
              <a:t>核心产出</a:t>
            </a:r>
            <a:endParaRPr sz="2400" b="1" dirty="0">
              <a:solidFill>
                <a:srgbClr val="222222"/>
              </a:solidFill>
              <a:latin typeface="Microsoft Ya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10972800" cy="164592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icrosoft YaHei"/>
              </a:rPr>
              <a:t>核心产出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078992"/>
            <a:ext cx="3840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ECC71"/>
                </a:solidFill>
                <a:latin typeface="Microsoft YaHei"/>
              </a:rPr>
              <a:t>test-report.md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78992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06E"/>
                </a:solidFill>
                <a:latin typeface="Microsoft YaHei"/>
              </a:rPr>
              <a:t>形成最终验收证据，为交付和上线判断提供依据。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6400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1874519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产出明细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716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全量测试结果：通过 / 失败 / 跳过统计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2724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端到端集成链路测试：入口到结果的完整链路验证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76732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验收报告：逐条对照 PRD 验收标准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07408"/>
            <a:ext cx="5806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• 覆盖缺口与剩余风险：未覆盖链路、已知问题、阻塞项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084831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可见信息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42032"/>
            <a:ext cx="3749039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可检查是否真的达到交付标准，以及还有哪些风险被保留。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88620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适合谁看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315968"/>
            <a:ext cx="3657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管理层看阶段质量与风险</a:t>
            </a:r>
          </a:p>
          <a:p>
            <a:pPr algn="l"/>
            <a:r>
              <a:rPr sz="1400" b="0">
                <a:solidFill>
                  <a:srgbClr val="5A606E"/>
                </a:solidFill>
                <a:latin typeface="Microsoft YaHei"/>
              </a:rPr>
              <a:t>研发看输入输出是否齐全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21212"/>
            <a:ext cx="96012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222222"/>
                </a:solidFill>
                <a:latin typeface="Microsoft YaHei"/>
              </a:rPr>
              <a:t>附录</a:t>
            </a:r>
            <a:r>
              <a:rPr sz="2400" b="1" dirty="0">
                <a:solidFill>
                  <a:srgbClr val="222222"/>
                </a:solidFill>
                <a:latin typeface="Microsoft YaHei"/>
              </a:rPr>
              <a:t>：</a:t>
            </a:r>
            <a:r>
              <a:rPr lang="zh-CN" altLang="en-US" sz="2400" b="1" dirty="0">
                <a:solidFill>
                  <a:srgbClr val="222222"/>
                </a:solidFill>
                <a:latin typeface="Microsoft YaHei"/>
              </a:rPr>
              <a:t>项目目录</a:t>
            </a:r>
            <a:endParaRPr sz="2400" b="1" dirty="0">
              <a:solidFill>
                <a:srgbClr val="222222"/>
              </a:solidFill>
              <a:latin typeface="Microsoft Ya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DC6E26-C579-1C37-C2B0-413E9D05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89" y="661188"/>
            <a:ext cx="5223341" cy="59119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2D7FFD-CD8B-AAF0-AE51-ABB46B29E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1134"/>
            <a:ext cx="5707211" cy="591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95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21212"/>
            <a:ext cx="96012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222222"/>
                </a:solidFill>
                <a:latin typeface="Microsoft YaHei"/>
              </a:rPr>
              <a:t>附录</a:t>
            </a:r>
            <a:r>
              <a:rPr sz="2400" b="1" dirty="0">
                <a:solidFill>
                  <a:srgbClr val="222222"/>
                </a:solidFill>
                <a:latin typeface="Microsoft YaHei"/>
              </a:rPr>
              <a:t>：</a:t>
            </a:r>
            <a:r>
              <a:rPr lang="zh-CN" altLang="en-US" sz="2400" b="1" dirty="0">
                <a:solidFill>
                  <a:srgbClr val="222222"/>
                </a:solidFill>
                <a:latin typeface="Microsoft YaHei"/>
              </a:rPr>
              <a:t>运行时目录</a:t>
            </a:r>
            <a:endParaRPr sz="2400" b="1" dirty="0">
              <a:solidFill>
                <a:srgbClr val="222222"/>
              </a:solidFill>
              <a:latin typeface="Microsoft Ya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294A4F-3A90-2B43-C078-A7494DDE8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666" y="1217589"/>
            <a:ext cx="9666667" cy="4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25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21212"/>
            <a:ext cx="96012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222222"/>
                </a:solidFill>
                <a:latin typeface="Microsoft YaHei"/>
              </a:rPr>
              <a:t>附录：</a:t>
            </a:r>
            <a:r>
              <a:rPr lang="en-US" altLang="zh-CN" sz="2400" b="1" dirty="0" err="1">
                <a:solidFill>
                  <a:srgbClr val="222222"/>
                </a:solidFill>
                <a:latin typeface="Microsoft YaHei"/>
              </a:rPr>
              <a:t>Practice</a:t>
            </a:r>
            <a:endParaRPr sz="2400" b="1" dirty="0">
              <a:solidFill>
                <a:srgbClr val="222222"/>
              </a:solidFill>
              <a:latin typeface="Microsoft Ya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17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FAB031-308F-6AB2-9CF0-2A90FC330E51}"/>
              </a:ext>
            </a:extLst>
          </p:cNvPr>
          <p:cNvSpPr txBox="1"/>
          <p:nvPr/>
        </p:nvSpPr>
        <p:spPr>
          <a:xfrm>
            <a:off x="502920" y="1157489"/>
            <a:ext cx="60976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altLang="zh-CN" dirty="0"/>
              <a:t>PRD</a:t>
            </a:r>
          </a:p>
          <a:p>
            <a:pPr lvl="1"/>
            <a:r>
              <a:rPr lang="zh-CN" altLang="en-US" dirty="0"/>
              <a:t>将数据分发服务中 </a:t>
            </a:r>
            <a:r>
              <a:rPr lang="en-US" altLang="zh-CN" dirty="0" err="1"/>
              <a:t>normal.rule</a:t>
            </a:r>
            <a:r>
              <a:rPr lang="en-US" altLang="zh-CN" dirty="0"/>
              <a:t> </a:t>
            </a:r>
            <a:r>
              <a:rPr lang="zh-CN" altLang="en-US" dirty="0"/>
              <a:t>和 </a:t>
            </a:r>
            <a:r>
              <a:rPr lang="en-US" altLang="zh-CN" dirty="0" err="1"/>
              <a:t>todo-init.rule</a:t>
            </a:r>
            <a:r>
              <a:rPr lang="en-US" altLang="zh-CN" dirty="0"/>
              <a:t> </a:t>
            </a:r>
            <a:r>
              <a:rPr lang="zh-CN" altLang="en-US" dirty="0"/>
              <a:t>的应用</a:t>
            </a:r>
            <a:r>
              <a:rPr lang="en-US" altLang="zh-CN" dirty="0" err="1"/>
              <a:t>ID（app_id</a:t>
            </a:r>
            <a:r>
              <a:rPr lang="en-US" altLang="zh-CN" dirty="0"/>
              <a:t>）</a:t>
            </a:r>
            <a:r>
              <a:rPr lang="zh-CN" altLang="en-US" dirty="0"/>
              <a:t>配置，从 </a:t>
            </a:r>
            <a:r>
              <a:rPr lang="en-US" altLang="zh-CN" dirty="0" err="1"/>
              <a:t>application.properties</a:t>
            </a:r>
            <a:r>
              <a:rPr lang="en-US" altLang="zh-CN" dirty="0"/>
              <a:t> </a:t>
            </a:r>
            <a:r>
              <a:rPr lang="zh-CN" altLang="en-US" dirty="0"/>
              <a:t>文件迁移至 </a:t>
            </a:r>
            <a:r>
              <a:rPr lang="en-US" altLang="zh-CN" dirty="0" err="1"/>
              <a:t>cube_meta.app</a:t>
            </a:r>
            <a:r>
              <a:rPr lang="en-US" altLang="zh-CN" dirty="0"/>
              <a:t> </a:t>
            </a:r>
            <a:r>
              <a:rPr lang="zh-CN" altLang="en-US" dirty="0"/>
              <a:t>表进行统一管理</a:t>
            </a:r>
            <a:endParaRPr lang="en-US" altLang="zh-CN" dirty="0"/>
          </a:p>
          <a:p>
            <a:r>
              <a:rPr lang="en-CN" altLang="zh-CN" dirty="0"/>
              <a:t>Result</a:t>
            </a:r>
          </a:p>
          <a:p>
            <a:pPr lvl="1"/>
            <a:r>
              <a:rPr lang="en-CN" altLang="zh-CN" dirty="0"/>
              <a:t>功能完成</a:t>
            </a:r>
          </a:p>
          <a:p>
            <a:pPr lvl="1"/>
            <a:r>
              <a:rPr lang="en-CN" altLang="zh-CN" dirty="0"/>
              <a:t>耗时二天</a:t>
            </a:r>
          </a:p>
          <a:p>
            <a:pPr lvl="1"/>
            <a:r>
              <a:rPr lang="en-CN" altLang="zh-CN" dirty="0"/>
              <a:t>耗Token 9700万</a:t>
            </a:r>
          </a:p>
          <a:p>
            <a:r>
              <a:rPr lang="en-CN" altLang="zh-CN" dirty="0"/>
              <a:t>Problem</a:t>
            </a:r>
          </a:p>
          <a:p>
            <a:pPr lvl="1"/>
            <a:r>
              <a:rPr lang="en-CN" altLang="zh-CN" dirty="0"/>
              <a:t>Red tests can’t build</a:t>
            </a:r>
          </a:p>
          <a:p>
            <a:pPr lvl="1"/>
            <a:r>
              <a:rPr lang="en-CN" altLang="zh-CN" dirty="0">
                <a:solidFill>
                  <a:srgbClr val="FF0000"/>
                </a:solidFill>
              </a:rPr>
              <a:t>Fake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CN" altLang="zh-CN" dirty="0">
                <a:solidFill>
                  <a:srgbClr val="FF0000"/>
                </a:solidFill>
              </a:rPr>
              <a:t>tests</a:t>
            </a:r>
          </a:p>
          <a:p>
            <a:pPr lvl="1"/>
            <a:r>
              <a:rPr lang="en-CN" altLang="zh-CN" dirty="0"/>
              <a:t>File locks</a:t>
            </a:r>
          </a:p>
          <a:p>
            <a:pPr lvl="1"/>
            <a:r>
              <a:rPr lang="en-CN" altLang="zh-CN" dirty="0"/>
              <a:t>Context overflow</a:t>
            </a:r>
          </a:p>
          <a:p>
            <a:pPr lvl="1"/>
            <a:r>
              <a:rPr lang="en-CN" altLang="zh-CN" dirty="0">
                <a:solidFill>
                  <a:srgbClr val="FF0000"/>
                </a:solidFill>
              </a:rPr>
              <a:t>Meanless loop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0FD3B2D-9B2C-351E-A9FA-0F7645247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301" y="310896"/>
            <a:ext cx="5249779" cy="620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82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929</Words>
  <Application>Microsoft Office PowerPoint</Application>
  <PresentationFormat>宽屏</PresentationFormat>
  <Paragraphs>343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王鼎</cp:lastModifiedBy>
  <cp:revision>5</cp:revision>
  <dcterms:created xsi:type="dcterms:W3CDTF">2013-01-27T09:14:16Z</dcterms:created>
  <dcterms:modified xsi:type="dcterms:W3CDTF">2026-04-29T05:47:58Z</dcterms:modified>
  <cp:category/>
</cp:coreProperties>
</file>