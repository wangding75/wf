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868680"/>
            <a:ext cx="10835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ECE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868680"/>
            <a:ext cx="2926080" cy="4206240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32588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234440"/>
            <a:ext cx="6400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222222"/>
                </a:solidFill>
                <a:latin typeface="Microsoft YaHei"/>
              </a:rPr>
              <a:t>CUBE 开发专注版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7639" y="1938528"/>
            <a:ext cx="64922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5A606E"/>
                </a:solidFill>
                <a:latin typeface="Microsoft YaHei"/>
              </a:rPr>
              <a:t>用 Contract、TDD、Gate 和回退机制，把 AI 开发变成研发团队可执行的方法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Contract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输出先变契约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TDD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测试先于实现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2926080"/>
            <a:ext cx="1874519" cy="1188720"/>
          </a:xfrm>
          <a:prstGeom prst="roundRect">
            <a:avLst/>
          </a:prstGeom>
          <a:solidFill>
            <a:srgbClr val="F7F8FA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Gate</a:t>
            </a:r>
          </a:p>
          <a:p>
            <a:pPr algn="ctr"/>
            <a:r>
              <a:rPr sz="1600" b="1">
                <a:solidFill>
                  <a:srgbClr val="222222"/>
                </a:solidFill>
                <a:latin typeface="Microsoft YaHei"/>
              </a:rPr>
              <a:t>进度必须可验证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40680"/>
            <a:ext cx="100584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5A606E"/>
                </a:solidFill>
                <a:latin typeface="Microsoft YaHei"/>
              </a:rPr>
              <a:t>面向研发团队：为什么这样做，以及怎么按这套方式稳定推进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汇报结构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01  项目定位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为什么要用 CUBE 约束 AI 开发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234440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02  核心机制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Contract、Gate、回退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06040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03  五阶段方法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PRD 到 Testing 的研发职责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606040"/>
            <a:ext cx="489204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04  研发落地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插件结构与 .cube 产物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977639"/>
            <a:ext cx="1046988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05  执行方式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逐任务推进与命令流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项目定位：把 AI 开发从“会写”变成“可交付”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3063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传统 AI 开发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需求容易跳步骤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设计和测试容易被跳过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“完成”常常只是主观判断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234440"/>
            <a:ext cx="3063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CUBE 方法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先契约、再测试、后实现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每个阶段都有明确产物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进度由门禁判断，不靠口头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234440"/>
            <a:ext cx="3063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研发收益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减少返工和上下文漂移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让 AI 输出更稳定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让多人协作更容易复盘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069080"/>
            <a:ext cx="10012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100" b="0">
                <a:solidFill>
                  <a:srgbClr val="222222"/>
                </a:solidFill>
                <a:latin typeface="Microsoft YaHei"/>
              </a:rPr>
              <a:t>这套方法不是为了增加文档，而是为了把“需求理解、方案、测试、实现、验收”串成一条可检查链路。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核心机制：Contract + TDD + Gate + Regress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Contract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每个阶段先产出可消费契约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2240280" cy="18288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TDD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先写失败测试，再写实现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00200"/>
            <a:ext cx="2240280" cy="18288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160020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Gate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没通过校验不能推进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600200"/>
            <a:ext cx="2240280" cy="1828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3999" y="1600200"/>
            <a:ext cx="22402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Regress</a:t>
            </a:r>
          </a:p>
          <a:p>
            <a:pPr algn="ctr"/>
            <a:r>
              <a:rPr sz="1800" b="1">
                <a:solidFill>
                  <a:srgbClr val="222222"/>
                </a:solidFill>
                <a:latin typeface="Microsoft YaHei"/>
              </a:rPr>
              <a:t>前序有缺陷就回退修正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3999" y="1600200"/>
            <a:ext cx="2240280" cy="18288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3327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222222"/>
                </a:solidFill>
                <a:latin typeface="Microsoft YaHei"/>
              </a:rPr>
              <a:t>研发视角的关键变化：不是边想边写，而是先把目标、约束和验证方式固定下来，再让实现去满足它。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五阶段详解：01 PRD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3A7CFF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PRD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7451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需求先澄清，避免开发阶段补猜需求。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需求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访谈</a:t>
            </a:r>
          </a:p>
        </p:txBody>
      </p:sp>
      <p:sp>
        <p:nvSpPr>
          <p:cNvPr id="13" name="Chevron 12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边界</a:t>
            </a:r>
          </a:p>
        </p:txBody>
      </p:sp>
      <p:sp>
        <p:nvSpPr>
          <p:cNvPr id="15" name="Chevron 14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8" name="Folded Corner 17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3A7CFF"/>
                </a:solidFill>
                <a:latin typeface="Microsoft YaHei"/>
              </a:rPr>
              <a:t>prd.md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定义需求契约，明确做什么、怎么验收。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96012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产品经理 / 需求方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148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研发价值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先把问题定义清楚，减少后续返工。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3375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推进规则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通过当前门禁后，后续阶段才允许消费这一产物。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01 PRD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五阶段详解：02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0B09B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7451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把需求转成接口、流程和任务级技术契约。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PRD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影响</a:t>
            </a:r>
          </a:p>
        </p:txBody>
      </p:sp>
      <p:sp>
        <p:nvSpPr>
          <p:cNvPr id="13" name="Chevron 12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接口</a:t>
            </a:r>
          </a:p>
        </p:txBody>
      </p:sp>
      <p:sp>
        <p:nvSpPr>
          <p:cNvPr id="15" name="Chevron 14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8" name="Folded Corner 17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0B09B"/>
                </a:solidFill>
                <a:latin typeface="Microsoft YaHei"/>
              </a:rPr>
              <a:t>design.md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固化技术方案、输出契约、开发任务。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96012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架构师 / 研发负责人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148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研发价值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后续测试和实现都只围绕设计契约展开。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3375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推进规则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通过当前门禁后，后续阶段才允许消费这一产物。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02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五阶段详解：03 Test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5A623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7451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先写失败测试，让行为目标先落地。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设计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用例</a:t>
            </a:r>
          </a:p>
        </p:txBody>
      </p:sp>
      <p:sp>
        <p:nvSpPr>
          <p:cNvPr id="13" name="Chevron 12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失败</a:t>
            </a:r>
          </a:p>
        </p:txBody>
      </p:sp>
      <p:sp>
        <p:nvSpPr>
          <p:cNvPr id="15" name="Chevron 14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锁定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8" name="Folded Corner 17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5A623"/>
                </a:solidFill>
                <a:latin typeface="Microsoft YaHei"/>
              </a:rPr>
              <a:t>test-map.yaml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把测试映射和失败测试固化成实现约束。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96012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测试负责人 / TDD 执行者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148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研发价值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让实现对齐测试，而不是边写边改目标。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3375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推进规则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通过当前门禁后，后续阶段才允许消费这一产物。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03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五阶段详解：04 Development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6B6B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7451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一次只做一个任务，让测试逐个变绿。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任务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读测</a:t>
            </a:r>
          </a:p>
        </p:txBody>
      </p:sp>
      <p:sp>
        <p:nvSpPr>
          <p:cNvPr id="13" name="Chevron 12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实现</a:t>
            </a:r>
          </a:p>
        </p:txBody>
      </p:sp>
      <p:sp>
        <p:nvSpPr>
          <p:cNvPr id="15" name="Chevron 14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重构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8" name="Folded Corner 17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Microsoft YaHei"/>
              </a:rPr>
              <a:t>STATUS.yaml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记录任务状态、开发日志和测试结果。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96012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研发 / AI 执行者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148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研发价值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实现阶段不改测试，只让实现满足已锁定契约。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3375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推进规则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通过当前门禁后，后续阶段才允许消费这一产物。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04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五阶段详解：05 Testing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32688"/>
            <a:ext cx="2423160" cy="4526280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6" name="Oval 5"/>
          <p:cNvSpPr/>
          <p:nvPr/>
        </p:nvSpPr>
        <p:spPr>
          <a:xfrm>
            <a:off x="1051560" y="1261872"/>
            <a:ext cx="960120" cy="96012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ECC71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187451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874519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阶段介绍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Microsoft YaHei"/>
              </a:rPr>
              <a:t>执行全量验证，沉淀真实验收证据。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987552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做的事情</a:t>
            </a:r>
          </a:p>
        </p:txBody>
      </p:sp>
      <p:sp>
        <p:nvSpPr>
          <p:cNvPr id="10" name="Oval 9"/>
          <p:cNvSpPr/>
          <p:nvPr/>
        </p:nvSpPr>
        <p:spPr>
          <a:xfrm>
            <a:off x="338328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全测</a:t>
            </a:r>
          </a:p>
        </p:txBody>
      </p:sp>
      <p:sp>
        <p:nvSpPr>
          <p:cNvPr id="11" name="Chevron 10"/>
          <p:cNvSpPr/>
          <p:nvPr/>
        </p:nvSpPr>
        <p:spPr>
          <a:xfrm>
            <a:off x="422452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集成</a:t>
            </a:r>
          </a:p>
        </p:txBody>
      </p:sp>
      <p:sp>
        <p:nvSpPr>
          <p:cNvPr id="13" name="Chevron 12"/>
          <p:cNvSpPr/>
          <p:nvPr/>
        </p:nvSpPr>
        <p:spPr>
          <a:xfrm>
            <a:off x="545896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5" name="Chevron 14"/>
          <p:cNvSpPr/>
          <p:nvPr/>
        </p:nvSpPr>
        <p:spPr>
          <a:xfrm>
            <a:off x="6693408" y="1773936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7086600" y="1554480"/>
            <a:ext cx="749808" cy="749808"/>
          </a:xfrm>
          <a:prstGeom prst="ellipse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3154680"/>
            <a:ext cx="4572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8" name="Folded Corner 17"/>
          <p:cNvSpPr/>
          <p:nvPr/>
        </p:nvSpPr>
        <p:spPr>
          <a:xfrm>
            <a:off x="3611880" y="3474720"/>
            <a:ext cx="749808" cy="868680"/>
          </a:xfrm>
          <a:prstGeom prst="foldedCorner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401568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22222"/>
                </a:solidFill>
                <a:latin typeface="Microsoft YaHei"/>
              </a:rPr>
              <a:t>关键产出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30752"/>
            <a:ext cx="2926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Microsoft YaHei"/>
              </a:rPr>
              <a:t>test-report.md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059936"/>
            <a:ext cx="2971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A606E"/>
                </a:solidFill>
                <a:latin typeface="Microsoft YaHei"/>
              </a:rPr>
              <a:t>输出测试报告，支撑交付和上线判断。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96012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核心职责</a:t>
            </a:r>
          </a:p>
          <a:p>
            <a:pPr algn="l"/>
            <a:r>
              <a:rPr sz="1500" b="0">
                <a:solidFill>
                  <a:srgbClr val="222222"/>
                </a:solidFill>
                <a:latin typeface="Microsoft YaHei"/>
              </a:rPr>
              <a:t>QA / 交付负责人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9327" y="2148840"/>
            <a:ext cx="32461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研发价值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把通过结果留成证据，而不是口头完成。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33756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推进规则</a:t>
            </a:r>
          </a:p>
          <a:p>
            <a:pPr algn="l"/>
            <a:r>
              <a:rPr sz="1400" b="0">
                <a:solidFill>
                  <a:srgbClr val="222222"/>
                </a:solidFill>
                <a:latin typeface="Microsoft YaHei"/>
              </a:rPr>
              <a:t>通过当前门禁后，后续阶段才允许消费这一产物。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01 PRD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90088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02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02936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03 Test Cases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6080760"/>
            <a:ext cx="1965960" cy="347472"/>
          </a:xfrm>
          <a:prstGeom prst="roundRect">
            <a:avLst/>
          </a:prstGeom>
          <a:solidFill>
            <a:srgbClr val="E8EBF0"/>
          </a:solidFill>
          <a:ln>
            <a:solidFill>
              <a:srgbClr val="E8E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6E6E6E"/>
                </a:solidFill>
                <a:latin typeface="Microsoft YaHei"/>
              </a:rPr>
              <a:t>04 Development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28632" y="6080760"/>
            <a:ext cx="1965960" cy="34747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05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插件结构：研发如何理解 CUBE 的执行层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skills/*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命令入口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init / dev / check / advance / regress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4709160" cy="16459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7160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prompts/*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阶段提示词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01-prd 到 05-testing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4709160" cy="16459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9184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engine/*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门禁与状态推进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check-stage / status / regress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4709160" cy="16459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9184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templates &amp; presets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初始化模板和语言约束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291840"/>
            <a:ext cx="4709160" cy="16459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440680"/>
            <a:ext cx="10149840" cy="502920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22222"/>
                </a:solidFill>
                <a:latin typeface="Microsoft YaHei"/>
              </a:rPr>
              <a:t>开发可以把它理解成：Prompt 决定怎么做，Engine 决定能不能过。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.cube 运行时产物：真实交付状态放在哪里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29260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.cube/config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workflow.yaml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system-design.md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module-design.md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api-spec.md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234440"/>
            <a:ext cx="38862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.cube/iterations/{branch}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prd.md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design.md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test-map.yaml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STATUS.yaml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dev-log.md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test-report.md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0632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研发含义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项目级配置共享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分支级交付独立</a:t>
            </a:r>
          </a:p>
          <a:p>
            <a:pPr algn="l"/>
            <a:r>
              <a:rPr sz="1800" b="1">
                <a:solidFill>
                  <a:srgbClr val="222222"/>
                </a:solidFill>
                <a:latin typeface="Microsoft YaHei"/>
              </a:rPr>
              <a:t>每一步都有文件证据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5257800"/>
            <a:ext cx="10058400" cy="548640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>
                <a:solidFill>
                  <a:srgbClr val="222222"/>
                </a:solidFill>
                <a:latin typeface="Microsoft YaHei"/>
              </a:rPr>
              <a:t>看 .cube，不靠记忆，就能知道当前阶段、当前任务、当前交付物。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开发执行循环：一次只让一个任务变绿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Locked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读测试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理解断言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783080" cy="164592"/>
          </a:xfrm>
          <a:prstGeom prst="roundRect">
            <a:avLst/>
          </a:prstGeom>
          <a:solidFill>
            <a:srgbClr val="3A7CFF"/>
          </a:solidFill>
          <a:ln>
            <a:solidFill>
              <a:srgbClr val="3A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7" name="Chevron 6"/>
          <p:cNvSpPr/>
          <p:nvPr/>
        </p:nvSpPr>
        <p:spPr>
          <a:xfrm>
            <a:off x="2532888" y="2450592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874519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Implement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最小实现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不改测试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74519"/>
            <a:ext cx="1783080" cy="164592"/>
          </a:xfrm>
          <a:prstGeom prst="roundRect">
            <a:avLst/>
          </a:prstGeom>
          <a:solidFill>
            <a:srgbClr val="F5A623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0" name="Chevron 9"/>
          <p:cNvSpPr/>
          <p:nvPr/>
        </p:nvSpPr>
        <p:spPr>
          <a:xfrm>
            <a:off x="4773168" y="2450592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1874519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Green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测试通过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记录结果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874519"/>
            <a:ext cx="1783080" cy="164592"/>
          </a:xfrm>
          <a:prstGeom prst="round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3" name="Chevron 12"/>
          <p:cNvSpPr/>
          <p:nvPr/>
        </p:nvSpPr>
        <p:spPr>
          <a:xfrm>
            <a:off x="7013448" y="2450592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874519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Refactor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保持通过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改善代码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874519"/>
            <a:ext cx="1783080" cy="164592"/>
          </a:xfrm>
          <a:prstGeom prst="roundRect">
            <a:avLst/>
          </a:prstGeom>
          <a:solidFill>
            <a:srgbClr val="00B09B"/>
          </a:solidFill>
          <a:ln>
            <a:solidFill>
              <a:srgbClr val="00B0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6" name="Chevron 15"/>
          <p:cNvSpPr/>
          <p:nvPr/>
        </p:nvSpPr>
        <p:spPr>
          <a:xfrm>
            <a:off x="9253728" y="2450592"/>
            <a:ext cx="256032" cy="310896"/>
          </a:xfrm>
          <a:prstGeom prst="chevron">
            <a:avLst/>
          </a:prstGeom>
          <a:solidFill>
            <a:srgbClr val="D0D6E0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46920" y="1874519"/>
            <a:ext cx="1783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Done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更新状态</a:t>
            </a:r>
          </a:p>
          <a:p>
            <a:pPr algn="ctr"/>
            <a:r>
              <a:rPr sz="1700" b="1">
                <a:solidFill>
                  <a:srgbClr val="222222"/>
                </a:solidFill>
                <a:latin typeface="Microsoft YaHei"/>
              </a:rPr>
              <a:t>进入下一任务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874519"/>
            <a:ext cx="1783080" cy="164592"/>
          </a:xfrm>
          <a:prstGeom prst="roundRect">
            <a:avLst/>
          </a:prstGeom>
          <a:solidFill>
            <a:srgbClr val="FF6B6B"/>
          </a:solidFill>
          <a:ln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>
                <a:solidFill>
                  <a:srgbClr val="222222"/>
                </a:solidFill>
                <a:latin typeface="Microsoft YaHei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480560"/>
            <a:ext cx="10195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0">
                <a:solidFill>
                  <a:srgbClr val="222222"/>
                </a:solidFill>
                <a:latin typeface="Microsoft YaHei"/>
              </a:rPr>
              <a:t>关键约束：实现阶段不主动改测试。发现测试缺陷走 unlock，发现设计缺陷走 regress。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常用命令与推进方式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/cube:init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初始化或激活工作流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/cube:dev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执行当前阶段工作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4612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/cube:check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校验当前或指定阶段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20624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/cube:advance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通过门禁后进入下一阶段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32588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/cube:status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查看阶段和任务进度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28600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/cube:regress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回退到前序阶段修正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24612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/cube:unlock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临时解锁测试资源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206240"/>
            <a:ext cx="4983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/cube:iterate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在新分支开启新迭代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5440680"/>
            <a:ext cx="10058400" cy="411480"/>
          </a:xfrm>
          <a:prstGeom prst="roundRect">
            <a:avLst/>
          </a:prstGeom>
          <a:solidFill>
            <a:srgbClr val="FAFBFD"/>
          </a:solidFill>
          <a:ln>
            <a:solidFill>
              <a:srgbClr val="FA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222222"/>
                </a:solidFill>
                <a:latin typeface="Microsoft YaHei"/>
              </a:rPr>
              <a:t>推进顺序：init -&gt; dev -&gt; check -&gt; advance；有问题时用 regress / unlock 回到正确位置。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9601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Microsoft YaHei"/>
              </a:rPr>
              <a:t>总结：这是一套研发可执行的方法，不只是流程图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561320" y="155448"/>
            <a:ext cx="960120" cy="310896"/>
          </a:xfrm>
          <a:prstGeom prst="roundRect">
            <a:avLst/>
          </a:prstGeom>
          <a:solidFill>
            <a:srgbClr val="141827"/>
          </a:solidFill>
          <a:ln>
            <a:solidFill>
              <a:srgbClr val="14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CUBE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6446520"/>
            <a:ext cx="5943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87878"/>
                </a:solidFill>
                <a:latin typeface="Microsoft YaHei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先契约、再测试、后实现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把目标先固定下来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门禁和回退不是负担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而是防止错误扩散的保护层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1417320"/>
            <a:ext cx="2926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.cube 产物和状态文件</a:t>
            </a:r>
          </a:p>
          <a:p>
            <a:pPr algn="l"/>
            <a:r>
              <a:rPr sz="1800" b="0">
                <a:solidFill>
                  <a:srgbClr val="222222"/>
                </a:solidFill>
                <a:latin typeface="Microsoft YaHei"/>
              </a:rPr>
              <a:t>让执行过程天然可追踪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4709160"/>
            <a:ext cx="100584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F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222222"/>
                </a:solidFill>
                <a:latin typeface="Microsoft YaHei"/>
              </a:rPr>
              <a:t>对研发团队来说，CUBE 的价值不在“多一个流程”，而在“把 AI 的不确定性收敛到可验证的工程边界内”。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